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67" r:id="rId2"/>
  </p:sldMasterIdLst>
  <p:notesMasterIdLst>
    <p:notesMasterId r:id="rId17"/>
  </p:notesMasterIdLst>
  <p:sldIdLst>
    <p:sldId id="259" r:id="rId3"/>
    <p:sldId id="278" r:id="rId4"/>
    <p:sldId id="274" r:id="rId5"/>
    <p:sldId id="277" r:id="rId6"/>
    <p:sldId id="287" r:id="rId7"/>
    <p:sldId id="279" r:id="rId8"/>
    <p:sldId id="275" r:id="rId9"/>
    <p:sldId id="280" r:id="rId10"/>
    <p:sldId id="283" r:id="rId11"/>
    <p:sldId id="285" r:id="rId12"/>
    <p:sldId id="286" r:id="rId13"/>
    <p:sldId id="288" r:id="rId14"/>
    <p:sldId id="281" r:id="rId15"/>
    <p:sldId id="258" r:id="rId16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1bed4e7535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1284E67-53EC-CD12-2C27-04F4C937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D4907684-4AD0-17ED-D93F-0657F4D743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9FCA4744-02B7-140D-F8DA-FE5A47EF27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FA0C9BFC-7904-BBDF-CDEC-834CD3782B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8938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6ABB667-BA19-3E73-4E70-A200B64D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1310A915-F2C5-3836-FE49-C9E43EE44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FCF7A18C-7373-74AA-516F-2A33C932F0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AAD3BC22-4492-00EC-8630-C3D505538A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9583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1F11A6E-0853-C68C-1CBC-ACE65A42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41DF7370-AAD0-060A-252C-93DC87061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81B7EF76-9DDF-CCEF-A21C-9D0FF4451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55C4E2E3-88BF-C4B7-EFF8-E33F8318E1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4941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13E4C7-AC6B-81ED-F028-45F27B6C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B09340D0-DE30-A033-3C2E-F17807176F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C767078E-7213-FC48-9609-D7D5E59DA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89A402DC-A628-3210-4B51-2ED288AEC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478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8459063-F0DE-2808-0AF9-8F550266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795693B7-E8CA-C86C-DEBA-4036B8E32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F03562B1-21AF-F67F-4692-59560C74B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BB2B171C-F5E1-ED28-0AE5-D0083963C8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1875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1E14B96-A18A-2F28-424A-B41B2C932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6AC49DCC-2A97-5AEA-C6E0-3837AA0F52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E43D5305-575D-4226-AE87-0F38FB74E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8619D420-79B7-8BC6-6C8A-0B725888E3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2938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351D19-2C08-8BA9-97A2-9DE24839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E249D4DA-8A34-00CA-0CC2-2FF73E002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27504EF8-39EA-F71A-24A6-0DDC063534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99363B51-555B-5B3F-189D-5A443F1385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244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0E2CF50-1E69-2647-76DA-630CD187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AF2DD159-3112-F90D-47E9-9CA72DDD5A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9CAEA295-2537-7617-2995-2274619D1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F2322898-D8A8-A89C-48D2-9555D7393A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5153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FD5EFE2-6E8D-694F-1E44-F2759ED6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F48F0833-6589-468B-26DA-349F3A3238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D6C0A4CA-3B7A-D765-81C1-56F9C524E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BC164090-EB2D-2698-F190-5C68B20760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3481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F0FC32A-702C-FE4D-5605-705BE3D9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67678819-1DBC-0456-3495-6854D4EA2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7AEDF430-744A-2BFA-F9AC-43E72F209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0953F924-A354-7CB0-BA08-31C8162DCE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737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4794CD6-941F-8FDF-DEA2-AEB34B2B5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E3354154-AF18-FC69-0175-8F9D2760A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6285BA2B-1857-1930-C34A-EEDDDD24A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B42CBB20-8ABC-F45F-4B98-CDFF313123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8875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CFB892F-38C1-37CD-34B6-872C1675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bed4e7535_2_0:notes">
            <a:extLst>
              <a:ext uri="{FF2B5EF4-FFF2-40B4-BE49-F238E27FC236}">
                <a16:creationId xmlns:a16="http://schemas.microsoft.com/office/drawing/2014/main" id="{02CB6791-C736-36B4-83C1-3B52B6932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1bed4e7535_2_0:notes">
            <a:extLst>
              <a:ext uri="{FF2B5EF4-FFF2-40B4-BE49-F238E27FC236}">
                <a16:creationId xmlns:a16="http://schemas.microsoft.com/office/drawing/2014/main" id="{D47156CE-895C-47BD-7A9A-140844BF3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1bed4e7535_2_0:notes">
            <a:extLst>
              <a:ext uri="{FF2B5EF4-FFF2-40B4-BE49-F238E27FC236}">
                <a16:creationId xmlns:a16="http://schemas.microsoft.com/office/drawing/2014/main" id="{BCE76FF9-9A98-B643-6EB2-A460D0A9F2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800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27669e55c1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27669e55c1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127669e55c1_0_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4 - Photo of The Ring artwork installation">
  <p:cSld name="Title Slide 4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1 - Photo of campus and city skyline at dusk">
  <p:cSld name="1 - Title Slide 1 - Photo of campus and city skyline at dus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9364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Title Slide Colour 1">
  <p:cSld name="2 - Title Slide Colou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240534" y="1241225"/>
            <a:ext cx="6998400" cy="27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961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Content 1" type="obj">
  <p:cSld name="2 - Content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804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- Content 1 image">
  <p:cSld name="2 - Content 1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>
            <a:spLocks noGrp="1"/>
          </p:cNvSpPr>
          <p:nvPr>
            <p:ph type="pic" idx="2"/>
          </p:nvPr>
        </p:nvSpPr>
        <p:spPr>
          <a:xfrm>
            <a:off x="7212725" y="1481250"/>
            <a:ext cx="4976100" cy="53769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  <a:defRPr i="0" u="none" strike="noStrike" cap="none"/>
            </a:lvl5pPr>
            <a:lvl6pPr marL="2743200" marR="0" lvl="5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6pPr>
            <a:lvl7pPr marL="3200400" marR="0" lvl="6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7pPr>
            <a:lvl8pPr marL="3657600" marR="0" lvl="7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8pPr>
            <a:lvl9pPr marL="4114800" marR="0" lvl="8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92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 - Image Slide 1">
  <p:cSld name="2 - Image Slide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9675" y="9675"/>
            <a:ext cx="12188700" cy="57315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021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Title Slide Colour 2">
  <p:cSld name="3 - Title Slide Colour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ctrTitle"/>
          </p:nvPr>
        </p:nvSpPr>
        <p:spPr>
          <a:xfrm>
            <a:off x="240534" y="1241225"/>
            <a:ext cx="6998400" cy="27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7194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Title Slide Colour 3">
  <p:cSld name="3 - Title Slide Colour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240534" y="1241225"/>
            <a:ext cx="6998400" cy="27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36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Title Slide Colour 4">
  <p:cSld name="3 - Title Slide Colour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ctrTitle"/>
          </p:nvPr>
        </p:nvSpPr>
        <p:spPr>
          <a:xfrm>
            <a:off x="240534" y="1241225"/>
            <a:ext cx="6998400" cy="27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155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Title Slide Colour 5">
  <p:cSld name="3 - Title Slide Colour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i="0" u="none" strike="noStrike" cap="none">
                <a:solidFill>
                  <a:schemeClr val="lt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ctrTitle"/>
          </p:nvPr>
        </p:nvSpPr>
        <p:spPr>
          <a:xfrm>
            <a:off x="240534" y="1241225"/>
            <a:ext cx="6998400" cy="27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26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- Title Slide Colour 1">
  <p:cSld name="3 - Title Slide Colou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ctrTitle"/>
          </p:nvPr>
        </p:nvSpPr>
        <p:spPr>
          <a:xfrm>
            <a:off x="240534" y="1241225"/>
            <a:ext cx="6998400" cy="27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720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8">
  <p:cSld name="1 - Title Slide 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ctrTitle"/>
          </p:nvPr>
        </p:nvSpPr>
        <p:spPr>
          <a:xfrm>
            <a:off x="259366" y="475050"/>
            <a:ext cx="85605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ubTitle" idx="1"/>
          </p:nvPr>
        </p:nvSpPr>
        <p:spPr>
          <a:xfrm>
            <a:off x="259366" y="3607697"/>
            <a:ext cx="85605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7159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2 - Photo of campus Student Learning Centre with students working.">
  <p:cSld name="1 - Title Slide 2 - Photo of campus Student Learning Centre with students working.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6717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3 - Photo of campus Student Learning Centre at dusk with students walking.">
  <p:cSld name="1 - Title Slide 3 - Photo of campus Student Learning Centre at dusk with students walking.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7289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4 - Photo of The Ring artwork installation">
  <p:cSld name="1 - Title Slide 4 - Photo of The Ring artwork installa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259384" y="475061"/>
            <a:ext cx="42591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259384" y="3607699"/>
            <a:ext cx="42591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8234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5 - Photo of night aerial shot of Yonge and Dundas with cars and pedestrians.">
  <p:cSld name="1 - Title Slide 5 - Photo of night aerial shot of Yonge and Dundas with cars and pedestrians.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ctrTitle"/>
          </p:nvPr>
        </p:nvSpPr>
        <p:spPr>
          <a:xfrm>
            <a:off x="259376" y="475050"/>
            <a:ext cx="3855300" cy="29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1"/>
          </p:nvPr>
        </p:nvSpPr>
        <p:spPr>
          <a:xfrm>
            <a:off x="259376" y="3607697"/>
            <a:ext cx="38553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7256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6 - Photo of three students collaborating. ">
  <p:cSld name="1 - Title Slide 6 - Photo of three students collaborating. 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ctrTitle"/>
          </p:nvPr>
        </p:nvSpPr>
        <p:spPr>
          <a:xfrm>
            <a:off x="5760400" y="3805450"/>
            <a:ext cx="6225000" cy="20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1"/>
          </p:nvPr>
        </p:nvSpPr>
        <p:spPr>
          <a:xfrm>
            <a:off x="5760400" y="5609225"/>
            <a:ext cx="62250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9592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- Title Slide 7 - Photo campus cityscape.">
  <p:cSld name="1 - Title Slide 7 - Photo campus cityscape.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ctrTitle"/>
          </p:nvPr>
        </p:nvSpPr>
        <p:spPr>
          <a:xfrm>
            <a:off x="5760400" y="3805450"/>
            <a:ext cx="6225000" cy="20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ubTitle" idx="1"/>
          </p:nvPr>
        </p:nvSpPr>
        <p:spPr>
          <a:xfrm>
            <a:off x="5760400" y="5609225"/>
            <a:ext cx="62250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A9E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3790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- Renaming">
  <p:cSld name="4 - Renaming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/>
        </p:nvSpPr>
        <p:spPr>
          <a:xfrm>
            <a:off x="6459350" y="606250"/>
            <a:ext cx="5491500" cy="47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5BC2F4"/>
                </a:solidFill>
              </a:rPr>
              <a:t>Our New Chapter</a:t>
            </a:r>
            <a:endParaRPr sz="4800" b="1">
              <a:solidFill>
                <a:srgbClr val="5BC2F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100" b="1">
                <a:solidFill>
                  <a:srgbClr val="222222"/>
                </a:solidFill>
                <a:highlight>
                  <a:srgbClr val="FFFFFF"/>
                </a:highlight>
              </a:rPr>
            </a:br>
            <a:br>
              <a:rPr lang="en-US" sz="1100" b="1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US" sz="2800">
                <a:solidFill>
                  <a:schemeClr val="lt1"/>
                </a:solidFill>
              </a:rPr>
              <a:t>In April 2022, the university 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announced our new name of 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Toronto Metropolitan University, 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which will be implemented in 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a phased approach. Learn more 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about our next chapter at </a:t>
            </a:r>
            <a:r>
              <a:rPr lang="en-US" sz="2800" b="1">
                <a:solidFill>
                  <a:srgbClr val="5BC2F4"/>
                </a:solidFill>
              </a:rPr>
              <a:t>torontomu.ca/next-chapter</a:t>
            </a:r>
            <a:endParaRPr sz="2800" b="1" u="sng">
              <a:solidFill>
                <a:srgbClr val="5BC2F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1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7646232" y="6231468"/>
            <a:ext cx="351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1162270" y="6231468"/>
            <a:ext cx="440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400" i="0" u="none" strike="noStrike" cap="none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258697" y="392415"/>
            <a:ext cx="11256900" cy="1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258697" y="1472184"/>
            <a:ext cx="11256900" cy="42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 i="0" u="none" strike="noStrike" cap="none">
                <a:solidFill>
                  <a:schemeClr val="dk1"/>
                </a:solidFill>
              </a:defRPr>
            </a:lvl1pPr>
            <a:lvl2pPr marL="914400" marR="0" lvl="1" indent="-36195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i="0" u="none" strike="noStrike" cap="none">
                <a:solidFill>
                  <a:schemeClr val="dk1"/>
                </a:solidFill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 i="0" u="none" strike="noStrike" cap="none">
                <a:solidFill>
                  <a:schemeClr val="dk1"/>
                </a:solidFill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4pPr>
            <a:lvl5pPr marL="2286000" marR="0" lvl="4" indent="-3238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67100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IndrajeetSingh121/CIND820-CO2-Emission-Prediction/blob/main/README.m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ctrTitle"/>
          </p:nvPr>
        </p:nvSpPr>
        <p:spPr>
          <a:xfrm>
            <a:off x="259383" y="475062"/>
            <a:ext cx="8416531" cy="32386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en-IN" dirty="0"/>
            </a:br>
            <a:endParaRPr dirty="0"/>
          </a:p>
        </p:txBody>
      </p:sp>
      <p:sp>
        <p:nvSpPr>
          <p:cNvPr id="106" name="Google Shape;106;p23"/>
          <p:cNvSpPr txBox="1">
            <a:spLocks noGrp="1"/>
          </p:cNvSpPr>
          <p:nvPr>
            <p:ph type="subTitle" idx="1"/>
          </p:nvPr>
        </p:nvSpPr>
        <p:spPr>
          <a:xfrm>
            <a:off x="6190588" y="2955502"/>
            <a:ext cx="5998237" cy="2204327"/>
          </a:xfrm>
          <a:prstGeom prst="rect">
            <a:avLst/>
          </a:prstGeom>
          <a:solidFill>
            <a:srgbClr val="00B0F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CA" sz="2600" b="1" dirty="0"/>
          </a:p>
          <a:p>
            <a:r>
              <a:rPr lang="en-CA" sz="2700" b="1" dirty="0"/>
              <a:t>Name:  Indrajeet Singh</a:t>
            </a:r>
            <a:endParaRPr lang="en-IN" sz="2700" dirty="0"/>
          </a:p>
          <a:p>
            <a:r>
              <a:rPr lang="en-CA" sz="2700" b="1" dirty="0"/>
              <a:t>Student Number: 501409581</a:t>
            </a:r>
            <a:endParaRPr lang="en-IN" sz="2700" dirty="0"/>
          </a:p>
          <a:p>
            <a:r>
              <a:rPr lang="en-IN" sz="2700" b="1" dirty="0"/>
              <a:t>Supervisor’s name: Tamer Abdou</a:t>
            </a:r>
            <a:endParaRPr lang="en-IN" sz="2700" dirty="0"/>
          </a:p>
          <a:p>
            <a:r>
              <a:rPr lang="en-IN" sz="2700" b="1" dirty="0"/>
              <a:t>Date of Submission: 26</a:t>
            </a:r>
            <a:r>
              <a:rPr lang="en-IN" sz="2700" b="1" baseline="30000" dirty="0"/>
              <a:t>th</a:t>
            </a:r>
            <a:r>
              <a:rPr lang="en-IN" sz="2700" b="1" dirty="0"/>
              <a:t>  July 2026</a:t>
            </a:r>
            <a:endParaRPr lang="en-IN" sz="2700" dirty="0"/>
          </a:p>
          <a:p>
            <a:endParaRPr lang="en-CA" sz="2200" b="1" dirty="0"/>
          </a:p>
          <a:p>
            <a:endParaRPr lang="en-CA" sz="2600" b="1" dirty="0"/>
          </a:p>
          <a:p>
            <a:endParaRPr lang="en-CA" sz="26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endParaRPr lang="en-CA" sz="2400" b="1" dirty="0"/>
          </a:p>
          <a:p>
            <a:r>
              <a:rPr lang="en-CA" sz="2400" b="1" dirty="0"/>
              <a:t>Name:  Indrajeet Singh</a:t>
            </a:r>
            <a:endParaRPr lang="en-IN" sz="2400" dirty="0"/>
          </a:p>
          <a:p>
            <a:r>
              <a:rPr lang="en-CA" sz="2400" b="1" dirty="0"/>
              <a:t>Student Number: 501409581</a:t>
            </a:r>
            <a:endParaRPr lang="en-IN" sz="2400" dirty="0"/>
          </a:p>
          <a:p>
            <a:r>
              <a:rPr lang="en-IN" sz="2400" b="1" dirty="0"/>
              <a:t>Supervisor’s name: Tamer Abdou</a:t>
            </a:r>
            <a:endParaRPr lang="en-IN" sz="2400" dirty="0"/>
          </a:p>
          <a:p>
            <a:r>
              <a:rPr lang="en-IN" sz="2400" b="1" dirty="0"/>
              <a:t>Date of Submission: 25</a:t>
            </a:r>
            <a:r>
              <a:rPr lang="en-IN" sz="2400" b="1" baseline="30000" dirty="0"/>
              <a:t>th</a:t>
            </a:r>
            <a:r>
              <a:rPr lang="en-IN" sz="2400" b="1" dirty="0"/>
              <a:t> July 2026</a:t>
            </a:r>
          </a:p>
          <a:p>
            <a:endParaRPr lang="en-IN"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521B6-7943-41F3-1721-B62ED19A1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83" y="3784922"/>
            <a:ext cx="5931205" cy="3238666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BCE618DC-7644-F202-29FE-F6DB3DFBE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8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4327A1-105B-2C25-9961-A1E92FF38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42" y="508678"/>
            <a:ext cx="8294947" cy="270843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Transportation Sustainability and</a:t>
            </a:r>
            <a:endParaRPr kumimoji="0" lang="en-CA" altLang="en-US" sz="3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Vehicle Emissions Prediction</a:t>
            </a:r>
            <a:endParaRPr kumimoji="0" lang="en-CA" altLang="en-US" sz="3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3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CA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Predictive Analytics Study Using Canadian Fuel Consumption Data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altLang="en-US" sz="3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B16A9A-745D-0C2C-FD1E-4DDD931182C2}"/>
              </a:ext>
            </a:extLst>
          </p:cNvPr>
          <p:cNvSpPr txBox="1"/>
          <p:nvPr/>
        </p:nvSpPr>
        <p:spPr>
          <a:xfrm>
            <a:off x="6190587" y="5382228"/>
            <a:ext cx="5998237" cy="1261884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2200" b="1" dirty="0"/>
              <a:t>GitHub Repository: </a:t>
            </a:r>
            <a:r>
              <a:rPr lang="en-IN" sz="2000" b="1" u="sng" kern="100" dirty="0">
                <a:solidFill>
                  <a:srgbClr val="467886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https://github.com/IndrajeetSingh121/</a:t>
            </a:r>
            <a:r>
              <a:rPr lang="en-IN" sz="2000" b="1" u="sng" kern="100" dirty="0">
                <a:solidFill>
                  <a:srgbClr val="467886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CIND820-CO2-Emission-Prediction</a:t>
            </a:r>
            <a:endParaRPr lang="en-IN" sz="2000" b="1" kern="100" dirty="0"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DEA2306E-76E1-8B59-CBC9-7BFC21CD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E42D27AE-05AC-8002-A0A8-0E9A2898269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382" y="849536"/>
            <a:ext cx="11333904" cy="7078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 Why This Research Matters</a:t>
            </a:r>
            <a:endParaRPr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9A279F-EB67-B5E7-460B-43316CA7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080" y="6000499"/>
            <a:ext cx="2700731" cy="7078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4DFF70-568F-3E59-05E0-5F3F47A0926D}"/>
              </a:ext>
            </a:extLst>
          </p:cNvPr>
          <p:cNvSpPr txBox="1"/>
          <p:nvPr/>
        </p:nvSpPr>
        <p:spPr>
          <a:xfrm>
            <a:off x="259382" y="61511"/>
            <a:ext cx="11333904" cy="7078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b="1" dirty="0"/>
              <a:t>                        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E6260-8CB1-DE9B-B48C-66C3756057E8}"/>
              </a:ext>
            </a:extLst>
          </p:cNvPr>
          <p:cNvSpPr txBox="1"/>
          <p:nvPr/>
        </p:nvSpPr>
        <p:spPr>
          <a:xfrm>
            <a:off x="259382" y="1629766"/>
            <a:ext cx="6925189" cy="280076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Transportation is a major contributor to CO₂ emissions.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Vehicle characteristics influence vehicle emissions.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Accurate emission prediction supports sustainable transportation decisions.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This research helps compare vehicles based on their environmental impact.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4A96B-0227-AFD5-83AF-24EAD71062B3}"/>
              </a:ext>
            </a:extLst>
          </p:cNvPr>
          <p:cNvSpPr txBox="1"/>
          <p:nvPr/>
        </p:nvSpPr>
        <p:spPr>
          <a:xfrm>
            <a:off x="259382" y="4757533"/>
            <a:ext cx="7806931" cy="175432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/>
              <a:t>Project Goal</a:t>
            </a:r>
          </a:p>
          <a:p>
            <a:r>
              <a:rPr lang="en-IN" sz="2200" dirty="0"/>
              <a:t>To predict vehicle CO₂ emissions using Canadian vehicle data and identify the vehicle characteristics that contribute most to emissions.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38417-FDC9-2AEB-F23D-013D4667C359}"/>
              </a:ext>
            </a:extLst>
          </p:cNvPr>
          <p:cNvSpPr txBox="1"/>
          <p:nvPr/>
        </p:nvSpPr>
        <p:spPr>
          <a:xfrm>
            <a:off x="7271657" y="1637561"/>
            <a:ext cx="4321629" cy="273921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Project Beneficiaries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Transportation Analysts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Policy Makers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Researchers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Consumers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018969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626BE274-8576-4667-61C9-04C9AECC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10265582-F59F-A1A3-033C-B93A79EE9F8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383" y="1371600"/>
            <a:ext cx="11365200" cy="2413322"/>
          </a:xfrm>
          <a:prstGeom prst="rect">
            <a:avLst/>
          </a:prstGeom>
          <a:solidFill>
            <a:srgbClr val="00B0F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n-IN" sz="2400" dirty="0"/>
            </a:br>
            <a:endParaRPr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4269DE-5A57-5AD2-C0AC-0CE9458B9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564" y="5761832"/>
            <a:ext cx="2807641" cy="73590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ACD23D-D089-C7BD-DBE3-AC6CE56AD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677064"/>
              </p:ext>
            </p:extLst>
          </p:nvPr>
        </p:nvGraphicFramePr>
        <p:xfrm>
          <a:off x="259383" y="1371598"/>
          <a:ext cx="11365200" cy="4130087"/>
        </p:xfrm>
        <a:graphic>
          <a:graphicData uri="http://schemas.openxmlformats.org/drawingml/2006/table">
            <a:tbl>
              <a:tblPr/>
              <a:tblGrid>
                <a:gridCol w="3788400">
                  <a:extLst>
                    <a:ext uri="{9D8B030D-6E8A-4147-A177-3AD203B41FA5}">
                      <a16:colId xmlns:a16="http://schemas.microsoft.com/office/drawing/2014/main" val="3093777676"/>
                    </a:ext>
                  </a:extLst>
                </a:gridCol>
                <a:gridCol w="3788400">
                  <a:extLst>
                    <a:ext uri="{9D8B030D-6E8A-4147-A177-3AD203B41FA5}">
                      <a16:colId xmlns:a16="http://schemas.microsoft.com/office/drawing/2014/main" val="3857803079"/>
                    </a:ext>
                  </a:extLst>
                </a:gridCol>
                <a:gridCol w="3788400">
                  <a:extLst>
                    <a:ext uri="{9D8B030D-6E8A-4147-A177-3AD203B41FA5}">
                      <a16:colId xmlns:a16="http://schemas.microsoft.com/office/drawing/2014/main" val="1253087111"/>
                    </a:ext>
                  </a:extLst>
                </a:gridCol>
              </a:tblGrid>
              <a:tr h="687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            RQ1</a:t>
                      </a:r>
                      <a:endParaRPr lang="en-IN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           RQ2</a:t>
                      </a:r>
                      <a:endParaRPr lang="en-IN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          RQ3</a:t>
                      </a:r>
                      <a:endParaRPr lang="en-IN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706983"/>
                  </a:ext>
                </a:extLst>
              </a:tr>
              <a:tr h="100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Vehicle Categories</a:t>
                      </a:r>
                      <a:endParaRPr lang="en-IN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Vehicle Characteristics</a:t>
                      </a:r>
                      <a:endParaRPr lang="en-IN" sz="22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/>
                        <a:t>Fuel Consumption &amp; CO₂ Emissions</a:t>
                      </a:r>
                      <a:endParaRPr lang="en-IN" sz="22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481431"/>
                  </a:ext>
                </a:extLst>
              </a:tr>
              <a:tr h="2308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Which vehicle categories sold in Canada between 2015 and 2024 are associated with higher CO₂ emissions, and how can this information support sustainable transportation planning?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/>
                      <a:r>
                        <a:rPr lang="en-US" sz="2000" dirty="0"/>
                        <a:t>What vehicle characteristics contribute the most to higher CO₂ emissions in Canadian light-duty vehicles, and how can these insights encourage lower-emission vehicle choices?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200" dirty="0"/>
                        <a:t>How can vehicle specifications such as engine size, cylinders, and fuel type help consumers compare more environmentally responsible vehicle options?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765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613C1E-586F-3E0D-6EB8-2DCBBFD30D83}"/>
              </a:ext>
            </a:extLst>
          </p:cNvPr>
          <p:cNvSpPr txBox="1"/>
          <p:nvPr/>
        </p:nvSpPr>
        <p:spPr>
          <a:xfrm>
            <a:off x="259383" y="511535"/>
            <a:ext cx="11365200" cy="7078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000" dirty="0"/>
              <a:t>Research Questions </a:t>
            </a:r>
          </a:p>
        </p:txBody>
      </p:sp>
    </p:spTree>
    <p:extLst>
      <p:ext uri="{BB962C8B-B14F-4D97-AF65-F5344CB8AC3E}">
        <p14:creationId xmlns:p14="http://schemas.microsoft.com/office/powerpoint/2010/main" val="2058160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1C73A2A2-DB2D-86DB-ABDA-733224BD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38BCD9E1-7543-739D-0DA5-30FD17887AC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383" y="475061"/>
            <a:ext cx="11587856" cy="7550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Dataset Overview</a:t>
            </a:r>
            <a:endParaRPr sz="3000" dirty="0"/>
          </a:p>
        </p:txBody>
      </p:sp>
      <p:sp>
        <p:nvSpPr>
          <p:cNvPr id="106" name="Google Shape;106;p23">
            <a:extLst>
              <a:ext uri="{FF2B5EF4-FFF2-40B4-BE49-F238E27FC236}">
                <a16:creationId xmlns:a16="http://schemas.microsoft.com/office/drawing/2014/main" id="{217FDD1E-710B-67EA-1471-DF5042C926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0114" y="1328693"/>
            <a:ext cx="11477125" cy="4742421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/>
            <a:endParaRPr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61280-9E95-442E-26DA-AFA6D6F19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857" y="6071114"/>
            <a:ext cx="2594382" cy="680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C74EC7-9468-4E8B-D366-57AB20F48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15" y="1534886"/>
            <a:ext cx="5029200" cy="349431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94A3F8-9BE9-166C-0DEB-132F3858F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71975"/>
              </p:ext>
            </p:extLst>
          </p:nvPr>
        </p:nvGraphicFramePr>
        <p:xfrm>
          <a:off x="5804747" y="1534885"/>
          <a:ext cx="5029200" cy="3291759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3118086396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073538122"/>
                    </a:ext>
                  </a:extLst>
                </a:gridCol>
              </a:tblGrid>
              <a:tr h="568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004477"/>
                  </a:ext>
                </a:extLst>
              </a:tr>
              <a:tr h="568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Time Period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/>
                        <a:t>2015–2024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33673"/>
                  </a:ext>
                </a:extLst>
              </a:tr>
              <a:tr h="568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Observations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10,060 Vehicles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247231"/>
                  </a:ext>
                </a:extLst>
              </a:tr>
              <a:tr h="568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15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312125"/>
                  </a:ext>
                </a:extLst>
              </a:tr>
              <a:tr h="1015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Target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0" dirty="0"/>
                        <a:t>CO₂ Emissions (g/km)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68423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65FD51-19F4-4FCE-ABED-60BB01EB7BEF}"/>
              </a:ext>
            </a:extLst>
          </p:cNvPr>
          <p:cNvSpPr txBox="1"/>
          <p:nvPr/>
        </p:nvSpPr>
        <p:spPr>
          <a:xfrm>
            <a:off x="446315" y="5323114"/>
            <a:ext cx="9600510" cy="76944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2200" dirty="0"/>
              <a:t>The dataset contains vehicle specifications, fuel consumption measures, and environmental ratings used to predict vehicle CO₂ emissions</a:t>
            </a:r>
          </a:p>
        </p:txBody>
      </p:sp>
    </p:spTree>
    <p:extLst>
      <p:ext uri="{BB962C8B-B14F-4D97-AF65-F5344CB8AC3E}">
        <p14:creationId xmlns:p14="http://schemas.microsoft.com/office/powerpoint/2010/main" val="411771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65AB44C8-950A-24C2-E6B7-3971F525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31E55978-8B9D-5D06-00CF-9555CD53CB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81889"/>
            <a:ext cx="12188825" cy="7550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3200" dirty="0"/>
              <a:t>Exploratory Data Analysis (EDA)</a:t>
            </a:r>
          </a:p>
        </p:txBody>
      </p:sp>
      <p:sp>
        <p:nvSpPr>
          <p:cNvPr id="106" name="Google Shape;106;p23">
            <a:extLst>
              <a:ext uri="{FF2B5EF4-FFF2-40B4-BE49-F238E27FC236}">
                <a16:creationId xmlns:a16="http://schemas.microsoft.com/office/drawing/2014/main" id="{00B7AE19-5EE2-EADD-00B7-38BB4000A8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87465" y="1328693"/>
            <a:ext cx="12188825" cy="5529307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/>
            <a:endParaRPr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27440-F682-88BD-6519-6B341A3BE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725" y="1436977"/>
            <a:ext cx="5456744" cy="25502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5E609F-569A-EEBA-000F-ADDA174D6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04667"/>
            <a:ext cx="5152445" cy="24492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40140D-E6E1-AEE9-825F-15DB68A19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9573" y="1354372"/>
            <a:ext cx="5381044" cy="265851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51673EB-5742-EA6E-EEA1-DE73D43F724C}"/>
              </a:ext>
            </a:extLst>
          </p:cNvPr>
          <p:cNvSpPr txBox="1"/>
          <p:nvPr/>
        </p:nvSpPr>
        <p:spPr>
          <a:xfrm>
            <a:off x="5454721" y="4513643"/>
            <a:ext cx="6408751" cy="203132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1800" b="1" dirty="0"/>
              <a:t>Key Observations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Most vehicles emit </a:t>
            </a:r>
            <a:r>
              <a:rPr lang="en-IN" sz="1800" b="1" dirty="0"/>
              <a:t>200–300 g/km</a:t>
            </a:r>
            <a:r>
              <a:rPr lang="en-IN" sz="1800" dirty="0"/>
              <a:t> of CO₂.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Fuel consumption is concentrated around </a:t>
            </a:r>
            <a:r>
              <a:rPr lang="en-IN" sz="1800" b="1" dirty="0"/>
              <a:t>8–14 L/100 km</a:t>
            </a:r>
            <a:r>
              <a:rPr lang="en-IN" sz="1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Average CO₂ emissions generally increased between 2015 and 2023, with a slight decrease in 2024.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 small number of vehicles exhibit substantially higher CO₂ emissions than the majority of the dataset.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04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68DE7645-8E58-1428-F7F1-57B36C40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7C6188E6-CB3D-34D7-A4DE-3FBFE68209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383" y="475061"/>
            <a:ext cx="11773548" cy="7550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Project Methodology</a:t>
            </a:r>
            <a:endParaRPr sz="3200" dirty="0"/>
          </a:p>
        </p:txBody>
      </p:sp>
      <p:sp>
        <p:nvSpPr>
          <p:cNvPr id="106" name="Google Shape;106;p23">
            <a:extLst>
              <a:ext uri="{FF2B5EF4-FFF2-40B4-BE49-F238E27FC236}">
                <a16:creationId xmlns:a16="http://schemas.microsoft.com/office/drawing/2014/main" id="{47A1E6C9-16D0-DF27-1967-67AD879319D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9383" y="1446835"/>
            <a:ext cx="11350025" cy="18950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FF729-7124-9E22-C6FE-D7DF5F8E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257" y="5980812"/>
            <a:ext cx="2627674" cy="688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EC26BB-E9C2-7A77-B4F0-CE6A3D4FCAB0}"/>
              </a:ext>
            </a:extLst>
          </p:cNvPr>
          <p:cNvSpPr txBox="1"/>
          <p:nvPr/>
        </p:nvSpPr>
        <p:spPr>
          <a:xfrm>
            <a:off x="5305561" y="1645188"/>
            <a:ext cx="6727370" cy="400109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Methodology Overview</a:t>
            </a:r>
            <a:endParaRPr lang="en-IN" sz="2800" dirty="0"/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Data Collection</a:t>
            </a:r>
            <a:r>
              <a:rPr lang="en-IN" sz="2200" dirty="0"/>
              <a:t> – </a:t>
            </a:r>
            <a:r>
              <a:rPr lang="en-IN" sz="2200" dirty="0" err="1"/>
              <a:t>NRCan</a:t>
            </a:r>
            <a:r>
              <a:rPr lang="en-IN" sz="2200" dirty="0"/>
              <a:t> Fuel Consumption    Dataset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Data Preparation</a:t>
            </a:r>
            <a:r>
              <a:rPr lang="en-IN" sz="2200" dirty="0"/>
              <a:t> – Data cleaning, train-test split, encoding, scaling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Model Development</a:t>
            </a:r>
            <a:r>
              <a:rPr lang="en-IN" sz="2200" dirty="0"/>
              <a:t> – Multiple Linear Regression and Random Forest Regression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b="1" dirty="0"/>
              <a:t>Model Evaluation</a:t>
            </a:r>
            <a:r>
              <a:rPr lang="en-IN" sz="2200" dirty="0"/>
              <a:t> – MAE, RMSE, and R²</a:t>
            </a:r>
          </a:p>
          <a:p>
            <a:endParaRPr lang="en-IN" sz="2200" dirty="0"/>
          </a:p>
          <a:p>
            <a:endParaRPr lang="en-I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19DA03-B6DB-4750-A2F5-1204D7E4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307251"/>
            <a:ext cx="5236029" cy="536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4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599BF107-D5E7-0FBF-06B4-FA51B11C2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1B2B22C6-C6BA-52DF-EE83-B5DA8D13AAE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383" y="197270"/>
            <a:ext cx="11718385" cy="72870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                    Model Development &amp; Performance</a:t>
            </a:r>
            <a:endParaRPr sz="3200" dirty="0"/>
          </a:p>
        </p:txBody>
      </p:sp>
      <p:sp>
        <p:nvSpPr>
          <p:cNvPr id="106" name="Google Shape;106;p23">
            <a:extLst>
              <a:ext uri="{FF2B5EF4-FFF2-40B4-BE49-F238E27FC236}">
                <a16:creationId xmlns:a16="http://schemas.microsoft.com/office/drawing/2014/main" id="{3B88F654-F442-6123-1F33-F258EFC355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1055" y="1041371"/>
            <a:ext cx="11766713" cy="2454852"/>
          </a:xfrm>
          <a:prstGeom prst="rect">
            <a:avLst/>
          </a:prstGeom>
          <a:solidFill>
            <a:srgbClr val="00B0F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IN" b="1" dirty="0"/>
              <a:t>Why These Models?</a:t>
            </a:r>
          </a:p>
          <a:p>
            <a:pPr marL="69850" indent="0">
              <a:lnSpc>
                <a:spcPct val="150000"/>
              </a:lnSpc>
            </a:pPr>
            <a:endParaRPr lang="en-IN" sz="2200" dirty="0"/>
          </a:p>
          <a:p>
            <a:endParaRPr lang="en-IN" sz="2200" dirty="0"/>
          </a:p>
          <a:p>
            <a:endParaRPr lang="en-IN" sz="2200" dirty="0"/>
          </a:p>
          <a:p>
            <a:endParaRPr lang="en-IN" sz="2200" dirty="0"/>
          </a:p>
          <a:p>
            <a:endParaRPr lang="en-IN" sz="2200" dirty="0"/>
          </a:p>
          <a:p>
            <a:endParaRPr lang="en-IN" sz="2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EF9F51-42E0-EA04-EE86-3CA0B2CAC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571" y="5906748"/>
            <a:ext cx="2809204" cy="7539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4907A9-AF80-6FCB-F4D0-B04B6C662D6F}"/>
              </a:ext>
            </a:extLst>
          </p:cNvPr>
          <p:cNvSpPr txBox="1"/>
          <p:nvPr/>
        </p:nvSpPr>
        <p:spPr>
          <a:xfrm>
            <a:off x="127340" y="3736853"/>
            <a:ext cx="5474826" cy="29238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800" b="1" dirty="0"/>
              <a:t>Model Performance</a:t>
            </a:r>
          </a:p>
          <a:p>
            <a:endParaRPr lang="en-IN" sz="2600" dirty="0"/>
          </a:p>
          <a:p>
            <a:endParaRPr lang="en-IN" sz="2600" dirty="0"/>
          </a:p>
          <a:p>
            <a:endParaRPr lang="en-IN" sz="2600" dirty="0"/>
          </a:p>
          <a:p>
            <a:endParaRPr lang="en-IN" sz="2600" dirty="0"/>
          </a:p>
          <a:p>
            <a:endParaRPr lang="en-IN" sz="2600" dirty="0"/>
          </a:p>
          <a:p>
            <a:endParaRPr lang="en-IN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6D1F0-6317-FE50-234B-91ADCEFFF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83" y="4254178"/>
            <a:ext cx="5145962" cy="2165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17FE89-4F0B-F2C1-6576-49C5411F790A}"/>
              </a:ext>
            </a:extLst>
          </p:cNvPr>
          <p:cNvSpPr txBox="1"/>
          <p:nvPr/>
        </p:nvSpPr>
        <p:spPr>
          <a:xfrm>
            <a:off x="5992260" y="3639070"/>
            <a:ext cx="6069225" cy="215443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Champion Model:</a:t>
            </a:r>
            <a:r>
              <a:rPr lang="en-IN" sz="2200" b="1" dirty="0"/>
              <a:t> </a:t>
            </a:r>
            <a:r>
              <a:rPr lang="en-IN" sz="2200" dirty="0"/>
              <a:t>Tuned Random Forest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Lower MAE &amp; RMSE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Higher R²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Validated using five-fold cross-validation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Best balance of accuracy, stability &amp; efficiency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2FD679-432F-28AC-9856-E011452B5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37835"/>
              </p:ext>
            </p:extLst>
          </p:nvPr>
        </p:nvGraphicFramePr>
        <p:xfrm>
          <a:off x="211056" y="1684420"/>
          <a:ext cx="11766712" cy="1681709"/>
        </p:xfrm>
        <a:graphic>
          <a:graphicData uri="http://schemas.openxmlformats.org/drawingml/2006/table">
            <a:tbl>
              <a:tblPr/>
              <a:tblGrid>
                <a:gridCol w="6011944">
                  <a:extLst>
                    <a:ext uri="{9D8B030D-6E8A-4147-A177-3AD203B41FA5}">
                      <a16:colId xmlns:a16="http://schemas.microsoft.com/office/drawing/2014/main" val="4002829163"/>
                    </a:ext>
                  </a:extLst>
                </a:gridCol>
                <a:gridCol w="5754768">
                  <a:extLst>
                    <a:ext uri="{9D8B030D-6E8A-4147-A177-3AD203B41FA5}">
                      <a16:colId xmlns:a16="http://schemas.microsoft.com/office/drawing/2014/main" val="4173714362"/>
                    </a:ext>
                  </a:extLst>
                </a:gridCol>
              </a:tblGrid>
              <a:tr h="36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  Multiple Linear Regression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Random Forest Regression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269887"/>
                  </a:ext>
                </a:extLst>
              </a:tr>
              <a:tr h="36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• Baseline regression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• Comparison regression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518143"/>
                  </a:ext>
                </a:extLst>
              </a:tr>
              <a:tr h="49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dirty="0"/>
                        <a:t>• Provides a benchmark for evaluating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• Handles non-linear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56150"/>
                  </a:ext>
                </a:extLst>
              </a:tr>
              <a:tr h="368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• Easy to interpret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• Improves prediction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186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546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4F094A0E-375F-33AF-91B0-B877984C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C478D721-B97E-2967-E1F1-80D11EB9E60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8359" y="136880"/>
            <a:ext cx="11872125" cy="751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                            Research Question 1</a:t>
            </a:r>
            <a:endParaRPr sz="3200" dirty="0"/>
          </a:p>
        </p:txBody>
      </p:sp>
      <p:sp>
        <p:nvSpPr>
          <p:cNvPr id="106" name="Google Shape;106;p23">
            <a:extLst>
              <a:ext uri="{FF2B5EF4-FFF2-40B4-BE49-F238E27FC236}">
                <a16:creationId xmlns:a16="http://schemas.microsoft.com/office/drawing/2014/main" id="{0B9E459F-56F9-EFE8-D044-7C4DB567D2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8360" y="971969"/>
            <a:ext cx="11872126" cy="1116958"/>
          </a:xfrm>
          <a:prstGeom prst="rect">
            <a:avLst/>
          </a:prstGeom>
          <a:solidFill>
            <a:srgbClr val="00B0F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2200" dirty="0"/>
              <a:t>Which categories of vehicles sold in Canada between 2015 and 2024 are associated with higher fuel consumption and CO₂ emissions, and how can this information support sustainable transportation planning?</a:t>
            </a:r>
            <a:endParaRPr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1FA82F-C65D-135F-E885-9D102B61E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5906145"/>
            <a:ext cx="2613949" cy="6851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DBA631-70E8-D679-BF7C-6FC5196D0E4E}"/>
              </a:ext>
            </a:extLst>
          </p:cNvPr>
          <p:cNvSpPr txBox="1"/>
          <p:nvPr/>
        </p:nvSpPr>
        <p:spPr>
          <a:xfrm>
            <a:off x="7881256" y="2182505"/>
            <a:ext cx="4169227" cy="31700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2200" b="1" dirty="0"/>
              <a:t>    </a:t>
            </a:r>
            <a:r>
              <a:rPr lang="en-IN" sz="2400" b="1" dirty="0"/>
              <a:t>Answer</a:t>
            </a:r>
            <a:r>
              <a:rPr lang="en-I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Passenger vans had the highest median CO₂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Standard SUVs and pickup trucks also showed higher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Compact vehicles generally produced lower emissions.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F34F8E-6443-FD43-586E-A878D89F1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06038"/>
            <a:ext cx="7707086" cy="451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26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7950D391-0E90-06E8-06C7-34FBFB9D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55DFE8B1-A78D-1B44-5675-082F0612CB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8359" y="136880"/>
            <a:ext cx="11872125" cy="751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                            Research Question 2</a:t>
            </a:r>
            <a:endParaRPr sz="3200" dirty="0"/>
          </a:p>
        </p:txBody>
      </p:sp>
      <p:sp>
        <p:nvSpPr>
          <p:cNvPr id="106" name="Google Shape;106;p23">
            <a:extLst>
              <a:ext uri="{FF2B5EF4-FFF2-40B4-BE49-F238E27FC236}">
                <a16:creationId xmlns:a16="http://schemas.microsoft.com/office/drawing/2014/main" id="{0A6925B9-C155-B0A3-32B6-8131F52061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8360" y="971969"/>
            <a:ext cx="11872126" cy="1116958"/>
          </a:xfrm>
          <a:prstGeom prst="rect">
            <a:avLst/>
          </a:prstGeom>
          <a:solidFill>
            <a:srgbClr val="00B0F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2400" dirty="0"/>
              <a:t>What vehicle characteristics contribute the most to higher CO₂ emissions in Canadian light-duty vehicles, and how can these insights encourage lower-emission vehicle choices?</a:t>
            </a:r>
            <a:endParaRPr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E139C8-0E1C-7996-155E-D40D90E9E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6021987"/>
            <a:ext cx="2171989" cy="5692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F9704B-835D-EE45-0C59-BC3492BEC826}"/>
              </a:ext>
            </a:extLst>
          </p:cNvPr>
          <p:cNvSpPr txBox="1"/>
          <p:nvPr/>
        </p:nvSpPr>
        <p:spPr>
          <a:xfrm>
            <a:off x="7881256" y="2182505"/>
            <a:ext cx="4169227" cy="353943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Answer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Engine size was the most influential predictor of CO₂ emissions.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Cylinder count was the second most important contributor.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Vehicle class, transmission, fuel type, and model year also influenced predictions.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These characteristics can help identify lower-emission vehicles.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0A3F-AC22-B58B-FB9D-256C42241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98855"/>
            <a:ext cx="7881256" cy="405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64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E983285E-B821-DDC6-014B-0B994A11C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7797BDC8-1127-8340-42BF-39EC736D78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8359" y="136880"/>
            <a:ext cx="11872125" cy="751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                            Research Question 3</a:t>
            </a:r>
            <a:endParaRPr sz="3200" dirty="0"/>
          </a:p>
        </p:txBody>
      </p:sp>
      <p:sp>
        <p:nvSpPr>
          <p:cNvPr id="106" name="Google Shape;106;p23">
            <a:extLst>
              <a:ext uri="{FF2B5EF4-FFF2-40B4-BE49-F238E27FC236}">
                <a16:creationId xmlns:a16="http://schemas.microsoft.com/office/drawing/2014/main" id="{0D54A8D8-E76D-AF6B-097E-8A1594E1B8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8360" y="971969"/>
            <a:ext cx="11872126" cy="900374"/>
          </a:xfrm>
          <a:prstGeom prst="rect">
            <a:avLst/>
          </a:prstGeom>
          <a:solidFill>
            <a:srgbClr val="00B0F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2400" dirty="0"/>
              <a:t>How can vehicle specifications such as engine size, cylinders, and fuel type help consumers compare more environmentally responsible vehicle options?</a:t>
            </a:r>
            <a:endParaRPr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8642F-F700-4094-FEBA-14366821E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0" y="6030974"/>
            <a:ext cx="2137699" cy="5603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51B2D2-B088-270C-90BE-DE5BFBC8EAD6}"/>
              </a:ext>
            </a:extLst>
          </p:cNvPr>
          <p:cNvSpPr txBox="1"/>
          <p:nvPr/>
        </p:nvSpPr>
        <p:spPr>
          <a:xfrm>
            <a:off x="278476" y="5059759"/>
            <a:ext cx="5916053" cy="169277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Key Findings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Larger engines emit more CO₂.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Fuel type affects emissions.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Lower-emission options identified.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Supports informed vehicle choices.</a:t>
            </a:r>
            <a:endParaRPr kumimoji="0" lang="en-I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E7112-506A-8F11-A92E-2C5C8E178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59" y="1955578"/>
            <a:ext cx="5776671" cy="30300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E781CF-8F8A-444F-5635-71BFF6281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125" y="1905522"/>
            <a:ext cx="5322223" cy="398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5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B262353F-34A5-987F-8D5C-E984C422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755DF166-9E7E-B5AC-9247-DCD14D48AA5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8360" y="406220"/>
            <a:ext cx="11872125" cy="751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                           Limitations &amp; Future Work</a:t>
            </a:r>
            <a:endParaRPr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FF3D6E-31EE-EABA-7A28-583F9C09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632" y="5699927"/>
            <a:ext cx="3400718" cy="8913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942044-7565-380F-4DAA-42125BBFD6D4}"/>
              </a:ext>
            </a:extLst>
          </p:cNvPr>
          <p:cNvSpPr txBox="1"/>
          <p:nvPr/>
        </p:nvSpPr>
        <p:spPr>
          <a:xfrm>
            <a:off x="178360" y="1505396"/>
            <a:ext cx="5540827" cy="384720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IN" sz="2800" b="1" dirty="0"/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dataset includes Canadian light-duty vehicles only (2015–2024).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Real-world factors such as driving behaviour, road conditions, traffic, and weather were not available.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model predicts emissions based on vehicle specifications and may not fully represent real driving conditions.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64A02-99C3-E7A0-8E0A-346281623694}"/>
              </a:ext>
            </a:extLst>
          </p:cNvPr>
          <p:cNvSpPr txBox="1"/>
          <p:nvPr/>
        </p:nvSpPr>
        <p:spPr>
          <a:xfrm>
            <a:off x="5914465" y="1505395"/>
            <a:ext cx="6096000" cy="384720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IN" sz="2800" b="1" dirty="0"/>
              <a:t>Ethics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Uses a publicly available Government of Canada dataset with no personal or sensitive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model should be used as a decision-support tool rather than an exact measure of real-world vehicle emissions.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Results should be interpreted responsibly, considering the dataset limitations and assumptions.</a:t>
            </a:r>
          </a:p>
        </p:txBody>
      </p:sp>
    </p:spTree>
    <p:extLst>
      <p:ext uri="{BB962C8B-B14F-4D97-AF65-F5344CB8AC3E}">
        <p14:creationId xmlns:p14="http://schemas.microsoft.com/office/powerpoint/2010/main" val="2686846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446013F5-3A7C-2E5D-6C74-8E7B44B0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>
            <a:extLst>
              <a:ext uri="{FF2B5EF4-FFF2-40B4-BE49-F238E27FC236}">
                <a16:creationId xmlns:a16="http://schemas.microsoft.com/office/drawing/2014/main" id="{E13B4186-6F9F-75AE-0C1F-C2B6DA9E6E6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8360" y="406220"/>
            <a:ext cx="11872125" cy="7518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200" dirty="0"/>
              <a:t>                               Future Work</a:t>
            </a:r>
            <a:endParaRPr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D61709-9FBA-B341-2B19-7C02C77D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632" y="5699927"/>
            <a:ext cx="3400718" cy="8913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63D26B-A150-8588-B9D1-89A226A47AA0}"/>
              </a:ext>
            </a:extLst>
          </p:cNvPr>
          <p:cNvSpPr txBox="1"/>
          <p:nvPr/>
        </p:nvSpPr>
        <p:spPr>
          <a:xfrm>
            <a:off x="368300" y="1505395"/>
            <a:ext cx="11642165" cy="353943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Future Work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Incorporate real-world driving conditions, such as traffic, weather, and road gradient.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Validate the model using independent or future vehicle datasets.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Extend the study to include electric and hybrid vehicles.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Develop an interactive decision-support tool for consumers and policymakers.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8129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FB8AE079-1D0E-65A9-5BFD-1898E631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F26DF-1AE0-C275-D205-57A8DC310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229" y="5578997"/>
            <a:ext cx="3641285" cy="9544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C0F472-8066-275F-325A-B48056A1DC4E}"/>
              </a:ext>
            </a:extLst>
          </p:cNvPr>
          <p:cNvSpPr txBox="1"/>
          <p:nvPr/>
        </p:nvSpPr>
        <p:spPr>
          <a:xfrm>
            <a:off x="153430" y="324590"/>
            <a:ext cx="11799083" cy="7078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400" b="1" dirty="0"/>
              <a:t>                                  </a:t>
            </a:r>
            <a:r>
              <a:rPr lang="en-IN" sz="4000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5C445A-0C83-768D-29E0-30B1227D3C99}"/>
              </a:ext>
            </a:extLst>
          </p:cNvPr>
          <p:cNvSpPr txBox="1"/>
          <p:nvPr/>
        </p:nvSpPr>
        <p:spPr>
          <a:xfrm>
            <a:off x="194871" y="1213273"/>
            <a:ext cx="11799082" cy="378565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Random Forest outperformed Multiple Linear Regression, achieving an R² of 0.9421.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Vehicle class, engine size, cylinders, transmission, and fuel type significantly influenced CO₂ emissions.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Larger engine vehicles generally produced higher CO₂ emissions, while smaller-engine vehicles tended to be more environmentally friendly.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developed model can support sustainable transportation planning and help consumers compare lower-emission vehicles.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08563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ctrTitle"/>
          </p:nvPr>
        </p:nvSpPr>
        <p:spPr>
          <a:xfrm>
            <a:off x="-1" y="0"/>
            <a:ext cx="5046563" cy="6858000"/>
          </a:xfrm>
          <a:prstGeom prst="rect">
            <a:avLst/>
          </a:prstGeom>
          <a:solidFill>
            <a:srgbClr val="00B0F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br>
              <a:rPr lang="en-IN" sz="6000" dirty="0"/>
            </a:br>
            <a:br>
              <a:rPr lang="en-IN" sz="6000" dirty="0"/>
            </a:br>
            <a:r>
              <a:rPr lang="en-IN" sz="6000" dirty="0"/>
              <a:t>Thank You! </a:t>
            </a:r>
            <a:br>
              <a:rPr lang="en-IN" dirty="0"/>
            </a:br>
            <a:br>
              <a:rPr lang="en-IN" dirty="0"/>
            </a:br>
            <a:r>
              <a:rPr lang="en-IN" sz="6000" dirty="0"/>
              <a:t>Questions?</a:t>
            </a:r>
            <a:endParaRPr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DE0042-03E5-96AD-EB25-C4ECE536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1" y="5183912"/>
            <a:ext cx="4771855" cy="11937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orontoMet_MasterTemplate v1">
  <a:themeElements>
    <a:clrScheme name="Ryerson University">
      <a:dk1>
        <a:srgbClr val="000000"/>
      </a:dk1>
      <a:lt1>
        <a:srgbClr val="FFFFFF"/>
      </a:lt1>
      <a:dk2>
        <a:srgbClr val="004C9B"/>
      </a:dk2>
      <a:lt2>
        <a:srgbClr val="FFDC00"/>
      </a:lt2>
      <a:accent1>
        <a:srgbClr val="011E5E"/>
      </a:accent1>
      <a:accent2>
        <a:srgbClr val="1297EB"/>
      </a:accent2>
      <a:accent3>
        <a:srgbClr val="4CB4F1"/>
      </a:accent3>
      <a:accent4>
        <a:srgbClr val="FD9208"/>
      </a:accent4>
      <a:accent5>
        <a:srgbClr val="FEBC0D"/>
      </a:accent5>
      <a:accent6>
        <a:srgbClr val="FFEE0A"/>
      </a:accent6>
      <a:hlink>
        <a:srgbClr val="004C9B"/>
      </a:hlink>
      <a:folHlink>
        <a:srgbClr val="D0D0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orontoMet_MasterTemplate v1">
  <a:themeElements>
    <a:clrScheme name="Ryerson University">
      <a:dk1>
        <a:srgbClr val="000000"/>
      </a:dk1>
      <a:lt1>
        <a:srgbClr val="FFFFFF"/>
      </a:lt1>
      <a:dk2>
        <a:srgbClr val="004C9B"/>
      </a:dk2>
      <a:lt2>
        <a:srgbClr val="FFDC00"/>
      </a:lt2>
      <a:accent1>
        <a:srgbClr val="011E5E"/>
      </a:accent1>
      <a:accent2>
        <a:srgbClr val="1297EB"/>
      </a:accent2>
      <a:accent3>
        <a:srgbClr val="4CB4F1"/>
      </a:accent3>
      <a:accent4>
        <a:srgbClr val="FD9208"/>
      </a:accent4>
      <a:accent5>
        <a:srgbClr val="FEBC0D"/>
      </a:accent5>
      <a:accent6>
        <a:srgbClr val="FFEE0A"/>
      </a:accent6>
      <a:hlink>
        <a:srgbClr val="004C9B"/>
      </a:hlink>
      <a:folHlink>
        <a:srgbClr val="D0D0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9153</TotalTime>
  <Words>892</Words>
  <Application>Microsoft Office PowerPoint</Application>
  <PresentationFormat>Custom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Calibri</vt:lpstr>
      <vt:lpstr>TorontoMet_MasterTemplate v1</vt:lpstr>
      <vt:lpstr>1_TorontoMet_MasterTemplate v1</vt:lpstr>
      <vt:lpstr> </vt:lpstr>
      <vt:lpstr> Why This Research Matters</vt:lpstr>
      <vt:lpstr> </vt:lpstr>
      <vt:lpstr>Dataset Overview</vt:lpstr>
      <vt:lpstr>Exploratory Data Analysis (EDA)</vt:lpstr>
      <vt:lpstr>Project Methodology</vt:lpstr>
      <vt:lpstr>                    Model Development &amp; Performance</vt:lpstr>
      <vt:lpstr>                            Research Question 1</vt:lpstr>
      <vt:lpstr>                            Research Question 2</vt:lpstr>
      <vt:lpstr>                            Research Question 3</vt:lpstr>
      <vt:lpstr>                           Limitations &amp; Future Work</vt:lpstr>
      <vt:lpstr>                               Future Work</vt:lpstr>
      <vt:lpstr>PowerPoint Presentation</vt:lpstr>
      <vt:lpstr>  Thank You!  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Indrajeet Singh</cp:lastModifiedBy>
  <cp:revision>15</cp:revision>
  <dcterms:modified xsi:type="dcterms:W3CDTF">2026-07-27T02:19:01Z</dcterms:modified>
</cp:coreProperties>
</file>